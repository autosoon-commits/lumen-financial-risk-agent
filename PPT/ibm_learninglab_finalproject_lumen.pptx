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5" r:id="rId9"/>
    <p:sldId id="266" r:id="rId10"/>
    <p:sldId id="267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83"/>
    <p:restoredTop sz="94643"/>
  </p:normalViewPr>
  <p:slideViewPr>
    <p:cSldViewPr snapToGrid="0">
      <p:cViewPr varScale="1">
        <p:scale>
          <a:sx n="108" d="100"/>
          <a:sy n="108" d="100"/>
        </p:scale>
        <p:origin x="2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96030-E08C-5912-DEE3-106E8FA706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57B814-3C64-374B-9FD0-FBE17622D5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AECA1-E9B6-0D0E-DFBF-BA32363B6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1ED01-BBF9-5641-A443-1B797D53989A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3B03-7CBA-F148-CA1B-C156E78A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E548A-F532-1126-E7C8-2BE2E1FEB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9A56B-D77A-334A-9ED9-57A54F95C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46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8DC4D-9C17-08BF-FDFE-EA9686857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C32F2-0889-F41C-4ADA-38F10F93D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AFB59-BF8D-FD64-D93F-040A0B091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1ED01-BBF9-5641-A443-1B797D53989A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B28FD-3C29-7435-0685-F5433DA67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5D18F-5735-0F0D-9C47-C3348A71B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9A56B-D77A-334A-9ED9-57A54F95C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607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9AC16-2828-B8A6-B3E7-592FCAC00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93D6B-1C8C-3D10-A8C9-D337BD9C0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057A0-39AF-3992-0486-B5E085A92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1ED01-BBF9-5641-A443-1B797D53989A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17CDA-F8A2-D690-FA3D-F358BBF65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3AC98-63F0-78D9-3CFB-15E403659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9A56B-D77A-334A-9ED9-57A54F95C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787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A173A-03BA-D7F7-6936-B1AE8C023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8B144-517B-9125-145D-46C4B333B8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214890-E264-E7CF-0C3F-2C127252AB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BB2377-19CB-3EAC-F585-2F8045DA1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1ED01-BBF9-5641-A443-1B797D53989A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CE65E5-2A7A-4AE1-E49D-477B11511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FF049B-1FAC-9F5A-5181-8C8BDDEDB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9A56B-D77A-334A-9ED9-57A54F95C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507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33DCB-D407-B26A-9CC0-57ACF6257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F0540-2483-82B6-2A56-ADCBC8653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E190A2-FB02-9216-6092-6CDB3556EF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33839C-351B-5768-331D-D92B713F0D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CA3A99-17DC-BAC0-780D-D5D274AA59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12454B-7984-1496-FDF4-3EA0F8656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1ED01-BBF9-5641-A443-1B797D53989A}" type="datetimeFigureOut">
              <a:rPr lang="en-US" smtClean="0"/>
              <a:t>4/25/26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5E944D-2976-269C-30DE-C0D5C4D50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AE4175-D342-221F-158D-C2D96009D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9A56B-D77A-334A-9ED9-57A54F95C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038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5C313-4D9C-B67F-FD19-C47CE83BF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731952-D277-87D2-31B2-5DD81A91C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1ED01-BBF9-5641-A443-1B797D53989A}" type="datetimeFigureOut">
              <a:rPr lang="en-US" smtClean="0"/>
              <a:t>4/25/26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D8808-13E2-03F7-D318-509D64CAA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F426E9-9268-FD92-99F8-A97F318EF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9A56B-D77A-334A-9ED9-57A54F95C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480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A8006F-1108-66E0-3F6D-43BBCCB1A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1ED01-BBF9-5641-A443-1B797D53989A}" type="datetimeFigureOut">
              <a:rPr lang="en-US" smtClean="0"/>
              <a:t>4/25/26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32AEE0-88FB-6F3B-CD2B-DF71686C9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77456-8DFA-75AB-F8D5-18AF56982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9A56B-D77A-334A-9ED9-57A54F95C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554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DD996-BCC1-4F91-6B1F-743F9B1E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51FE0-FA17-16B9-EDF4-E5CED4756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957E2C-C8F9-5327-45D7-C63488ADD7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EF0A4D-AD2A-5D93-48A7-13A18FBB6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1ED01-BBF9-5641-A443-1B797D53989A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504373-A751-00A4-8C81-7FCA92A50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CAD3AC-0147-3A53-CEC3-9CDE75EEB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9A56B-D77A-334A-9ED9-57A54F95C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215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152BB-6ECF-37E0-B27D-296505C14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99D24D-8AB3-9C94-A4F2-5BBA58D1F5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4E07C8-2422-451E-8140-51AFCC4870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5ACB30-60C4-1B12-959F-FA5544EE3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1ED01-BBF9-5641-A443-1B797D53989A}" type="datetimeFigureOut">
              <a:rPr lang="en-US" smtClean="0"/>
              <a:t>4/25/26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12900A-EF8E-9BC0-E7A7-52BBFAA04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3DFA95-9351-E71C-4FC4-417C5DA0A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9A56B-D77A-334A-9ED9-57A54F95C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175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98FE4-FA4D-4127-C67C-44962C4D0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DB8905-C4ED-B3C5-1B4C-490E66D2B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A6396-7C31-9530-CEC8-DAE58F226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1ED01-BBF9-5641-A443-1B797D53989A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E4EEE-57F3-0F88-8A9F-22888FC57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C551B-3CB3-C9FA-6B60-58D9F1B07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9A56B-D77A-334A-9ED9-57A54F95C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608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54D5BC-C186-DA4B-BA83-20E2F430D8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E60ACC-299C-B04F-8DEE-7A7CD3048A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0290E-462F-A5BE-05CC-3A9C7B191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1ED01-BBF9-5641-A443-1B797D53989A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3F9B2-C794-2538-1DFF-ECBBA364D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26775-4628-BD61-88B4-842261355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9A56B-D77A-334A-9ED9-57A54F95C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281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D754E9-A363-3762-1D77-F5C54C001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AF3E00-5045-5333-FEFB-51BA2460C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5255C-1561-054F-A391-FF4FB24B84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91ED01-BBF9-5641-A443-1B797D53989A}" type="datetimeFigureOut">
              <a:rPr lang="en-US" smtClean="0"/>
              <a:t>4/25/26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146BF-D05B-3227-A573-45F57D2113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A15EF-4F9B-CAB7-F6AB-428C3DEDC4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A9A56B-D77A-334A-9ED9-57A54F95C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80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BE2D6-37A4-DD21-F6C9-F2734C4B60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Title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0B9994-B45B-B015-0956-92E6023322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135578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DC767-22CB-95A0-17AD-0C1984E27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FE663D-A2CC-335E-C171-80E5EE949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deck includes the basic information that must be part of the project presentation. Please note: </a:t>
            </a:r>
          </a:p>
          <a:p>
            <a:r>
              <a:rPr lang="en-US" dirty="0"/>
              <a:t>The team can add design slides if desired</a:t>
            </a:r>
          </a:p>
          <a:p>
            <a:r>
              <a:rPr lang="en-US" dirty="0"/>
              <a:t>The team can include additional information as long as presentation video is no longer than 3 min</a:t>
            </a:r>
          </a:p>
          <a:p>
            <a:r>
              <a:rPr lang="en-US" dirty="0"/>
              <a:t>The presentation videos do not need to show the slides. We recommend the video is reserved for the demo only and include any required information through a voiceover. </a:t>
            </a:r>
          </a:p>
        </p:txBody>
      </p:sp>
    </p:spTree>
    <p:extLst>
      <p:ext uri="{BB962C8B-B14F-4D97-AF65-F5344CB8AC3E}">
        <p14:creationId xmlns:p14="http://schemas.microsoft.com/office/powerpoint/2010/main" val="1000153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EC1C3-BCEA-70F9-B8A6-B897ADB5E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97904-C978-DD54-08C2-6E3F728E9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Industry Problem</a:t>
            </a:r>
          </a:p>
          <a:p>
            <a:r>
              <a:rPr lang="en-US" dirty="0"/>
              <a:t>Commercial banks must evaluate corporate financial disclosures to assess credit risk, but management narratives are long, strategic, and difficult to compare across reporting periods.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Why It Matters</a:t>
            </a:r>
            <a:endParaRPr lang="en-US" dirty="0"/>
          </a:p>
          <a:p>
            <a:r>
              <a:rPr lang="en-US" dirty="0"/>
              <a:t>Missed early warning signals → credit losses </a:t>
            </a:r>
          </a:p>
          <a:p>
            <a:r>
              <a:rPr lang="en-US" dirty="0"/>
              <a:t>Manual review slows lending decisions </a:t>
            </a:r>
          </a:p>
          <a:p>
            <a:r>
              <a:rPr lang="en-US" dirty="0"/>
              <a:t>Inconsistent interpretation increases institutional risk </a:t>
            </a:r>
          </a:p>
          <a:p>
            <a:r>
              <a:rPr lang="en-US" dirty="0"/>
              <a:t>Regulatory pressure demands explainability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98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9ACE0-150B-3657-64D4-C50D0877A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Target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C2D72-2238-269B-3BCE-3738A32BF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Primary User</a:t>
            </a:r>
          </a:p>
          <a:p>
            <a:r>
              <a:rPr lang="en-US" dirty="0"/>
              <a:t>Senior Commercial Credit Analyst</a:t>
            </a:r>
          </a:p>
          <a:p>
            <a:pPr marL="0" indent="0">
              <a:buNone/>
            </a:pPr>
            <a:r>
              <a:rPr lang="en-US" b="1" dirty="0"/>
              <a:t>Pain Points</a:t>
            </a:r>
            <a:endParaRPr lang="en-US" dirty="0"/>
          </a:p>
          <a:p>
            <a:r>
              <a:rPr lang="en-US" dirty="0"/>
              <a:t>Manual comparison of disclosures across periods </a:t>
            </a:r>
          </a:p>
          <a:p>
            <a:r>
              <a:rPr lang="en-US" dirty="0"/>
              <a:t>Difficulty detecting subtle narrative shifts </a:t>
            </a:r>
          </a:p>
          <a:p>
            <a:r>
              <a:rPr lang="en-US" dirty="0"/>
              <a:t>Fragmented financial + external data sources </a:t>
            </a:r>
          </a:p>
          <a:p>
            <a:r>
              <a:rPr lang="en-US" dirty="0"/>
              <a:t>High cognitive load under time pressure </a:t>
            </a:r>
          </a:p>
          <a:p>
            <a:pPr marL="0" indent="0">
              <a:buNone/>
            </a:pPr>
            <a:r>
              <a:rPr lang="en-US" b="1" dirty="0"/>
              <a:t>Why Current Solutions Fail</a:t>
            </a:r>
            <a:endParaRPr lang="en-US" dirty="0"/>
          </a:p>
          <a:p>
            <a:r>
              <a:rPr lang="en-US" dirty="0"/>
              <a:t>Focus on numerical metrics only </a:t>
            </a:r>
          </a:p>
          <a:p>
            <a:r>
              <a:rPr lang="en-US" dirty="0"/>
              <a:t>No structured reasoning across time </a:t>
            </a:r>
          </a:p>
          <a:p>
            <a:r>
              <a:rPr lang="en-US" dirty="0"/>
              <a:t>No integration of narrative + financial + macro context </a:t>
            </a:r>
          </a:p>
          <a:p>
            <a:r>
              <a:rPr lang="en-US" dirty="0"/>
              <a:t>Heavy reliance on subjective judgment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9984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70AB7-DA93-68AD-824B-4B076EC06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8998F-B5FB-E1F2-B2A0-A03CA386B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Proposed Solution: Lumen Agentic AI:</a:t>
            </a:r>
            <a:endParaRPr lang="en-US" dirty="0"/>
          </a:p>
          <a:p>
            <a:r>
              <a:rPr lang="en-US" dirty="0"/>
              <a:t>Detects narrative risk shifts across financial disclosures </a:t>
            </a:r>
          </a:p>
          <a:p>
            <a:r>
              <a:rPr lang="en-US" dirty="0"/>
              <a:t>Cross-references financial data and external signals </a:t>
            </a:r>
          </a:p>
          <a:p>
            <a:r>
              <a:rPr lang="en-US" dirty="0"/>
              <a:t>Generates structured, explainable credit insights </a:t>
            </a:r>
          </a:p>
          <a:p>
            <a:r>
              <a:rPr lang="en-US" dirty="0"/>
              <a:t>Automates analysis while keeping human oversight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Value Delivered</a:t>
            </a:r>
            <a:endParaRPr lang="en-US" dirty="0"/>
          </a:p>
          <a:p>
            <a:r>
              <a:rPr lang="en-US" dirty="0"/>
              <a:t>Faster analysis (time reduction) </a:t>
            </a:r>
          </a:p>
          <a:p>
            <a:r>
              <a:rPr lang="en-US" dirty="0"/>
              <a:t>More consistent decisions </a:t>
            </a:r>
          </a:p>
          <a:p>
            <a:r>
              <a:rPr lang="en-US" dirty="0"/>
              <a:t>Early detection of hidden risk signals </a:t>
            </a:r>
          </a:p>
          <a:p>
            <a:r>
              <a:rPr lang="en-US" dirty="0"/>
              <a:t>Audit-ready explanations</a:t>
            </a:r>
          </a:p>
        </p:txBody>
      </p:sp>
    </p:spTree>
    <p:extLst>
      <p:ext uri="{BB962C8B-B14F-4D97-AF65-F5344CB8AC3E}">
        <p14:creationId xmlns:p14="http://schemas.microsoft.com/office/powerpoint/2010/main" val="72791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C6F53-5232-68C4-05AA-DA9917109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BEA3D-294A-CCB5-6C66-54B5D371D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B4F48-3C27-534A-BD7F-90412864F9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Core Capabilities</a:t>
            </a:r>
            <a:endParaRPr lang="en-US" dirty="0"/>
          </a:p>
          <a:p>
            <a:r>
              <a:rPr lang="en-US" dirty="0"/>
              <a:t>Retrieval: Collects filings, earnings calls, macro data </a:t>
            </a:r>
          </a:p>
          <a:p>
            <a:r>
              <a:rPr lang="en-US" dirty="0"/>
              <a:t>Reasoning: Compares narrative and financial signals over time </a:t>
            </a:r>
          </a:p>
          <a:p>
            <a:r>
              <a:rPr lang="en-US" dirty="0"/>
              <a:t>Coordination: Integrates multiple data sources </a:t>
            </a:r>
          </a:p>
          <a:p>
            <a:r>
              <a:rPr lang="en-US" dirty="0"/>
              <a:t>Automation: Produces structured reports and visual insights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347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F29E2-5101-BF89-DA09-428DC2E29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43D61-D329-3B6E-5383-F0A82DC5F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117"/>
            <a:ext cx="10515600" cy="488075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Input Layer</a:t>
            </a:r>
            <a:endParaRPr lang="en-US" dirty="0"/>
          </a:p>
          <a:p>
            <a:r>
              <a:rPr lang="en-US" dirty="0"/>
              <a:t>SEC filings (10-K, 10-Q) </a:t>
            </a:r>
          </a:p>
          <a:p>
            <a:r>
              <a:rPr lang="en-US" dirty="0"/>
              <a:t>Earnings transcripts </a:t>
            </a:r>
          </a:p>
          <a:p>
            <a:r>
              <a:rPr lang="en-US" dirty="0"/>
              <a:t>Macro data (FRED, market data) </a:t>
            </a:r>
          </a:p>
          <a:p>
            <a:pPr marL="0" indent="0">
              <a:buNone/>
            </a:pPr>
            <a:r>
              <a:rPr lang="en-US" b="1" dirty="0"/>
              <a:t>Processing Layer</a:t>
            </a:r>
            <a:endParaRPr lang="en-US" dirty="0"/>
          </a:p>
          <a:p>
            <a:r>
              <a:rPr lang="en-US" dirty="0"/>
              <a:t>NLP parsing (narrative extraction) </a:t>
            </a:r>
          </a:p>
          <a:p>
            <a:r>
              <a:rPr lang="en-US" dirty="0"/>
              <a:t>Financial metric extraction </a:t>
            </a:r>
          </a:p>
          <a:p>
            <a:r>
              <a:rPr lang="en-US" dirty="0"/>
              <a:t>Vector database for historical comparison </a:t>
            </a:r>
          </a:p>
          <a:p>
            <a:pPr marL="0" indent="0">
              <a:buNone/>
            </a:pPr>
            <a:r>
              <a:rPr lang="en-US" b="1" dirty="0"/>
              <a:t>Reasoning Engine</a:t>
            </a:r>
            <a:endParaRPr lang="en-US" dirty="0"/>
          </a:p>
          <a:p>
            <a:r>
              <a:rPr lang="en-US" dirty="0"/>
              <a:t>Cross-period comparison </a:t>
            </a:r>
          </a:p>
          <a:p>
            <a:r>
              <a:rPr lang="en-US" dirty="0"/>
              <a:t>Narrative drift detection </a:t>
            </a:r>
          </a:p>
          <a:p>
            <a:r>
              <a:rPr lang="en-US" dirty="0"/>
              <a:t>Risk scoring logic </a:t>
            </a:r>
          </a:p>
          <a:p>
            <a:pPr marL="0" indent="0">
              <a:buNone/>
            </a:pPr>
            <a:r>
              <a:rPr lang="en-US" b="1" dirty="0"/>
              <a:t>Output Layer</a:t>
            </a:r>
            <a:endParaRPr lang="en-US" dirty="0"/>
          </a:p>
          <a:p>
            <a:r>
              <a:rPr lang="en-US" dirty="0"/>
              <a:t>Risk alerts </a:t>
            </a:r>
          </a:p>
          <a:p>
            <a:r>
              <a:rPr lang="en-US" dirty="0"/>
              <a:t>Insight summaries </a:t>
            </a:r>
          </a:p>
          <a:p>
            <a:r>
              <a:rPr lang="en-US" dirty="0"/>
              <a:t>Auto-generated charts </a:t>
            </a:r>
          </a:p>
          <a:p>
            <a:r>
              <a:rPr lang="en-US" dirty="0"/>
              <a:t>Credit memo draft support</a:t>
            </a:r>
          </a:p>
        </p:txBody>
      </p:sp>
    </p:spTree>
    <p:extLst>
      <p:ext uri="{BB962C8B-B14F-4D97-AF65-F5344CB8AC3E}">
        <p14:creationId xmlns:p14="http://schemas.microsoft.com/office/powerpoint/2010/main" val="3605139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88DFE-26E7-8CE9-35CD-05BA2023C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1DADA-5228-F1F1-9A5C-2B238C349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Workflow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A10AA71-BCF0-8DBB-77D2-3AEB6434E5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82200"/>
            <a:ext cx="471154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inputs company or request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 retrieves relevant documents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Extracts financial + narrative features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Compares across time periods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Identifies inconsistencies and risk signals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Generates structured insights and visuals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Analyst reviews and validates output</a:t>
            </a:r>
          </a:p>
        </p:txBody>
      </p:sp>
    </p:spTree>
    <p:extLst>
      <p:ext uri="{BB962C8B-B14F-4D97-AF65-F5344CB8AC3E}">
        <p14:creationId xmlns:p14="http://schemas.microsoft.com/office/powerpoint/2010/main" val="4139746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A9CEC-B804-367E-41CF-3D2A72032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77ECC-F442-F1EB-3E52-477F54BFC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in the Loop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5A0D87D-96C0-8B2D-EBE8-C697F78922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597854"/>
            <a:ext cx="550322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Analyst validates final insights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 flags uncertainty when confidence is low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Critical decisions remain human-approved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Full traceability for audit</a:t>
            </a:r>
          </a:p>
        </p:txBody>
      </p:sp>
    </p:spTree>
    <p:extLst>
      <p:ext uri="{BB962C8B-B14F-4D97-AF65-F5344CB8AC3E}">
        <p14:creationId xmlns:p14="http://schemas.microsoft.com/office/powerpoint/2010/main" val="261494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E279E-4EFA-9394-F251-11D491830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4E709-9840-61BB-94A5-43BE7F535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Ethics &amp; Responsible AI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451FB34-78C7-84D3-3D67-B02E7C5B27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5503223" cy="41186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800" b="1" dirty="0"/>
              <a:t>Fairness &amp; Bias</a:t>
            </a:r>
            <a:endParaRPr lang="en-US" sz="1800" dirty="0"/>
          </a:p>
          <a:p>
            <a:r>
              <a:rPr lang="en-US" sz="1800" dirty="0"/>
              <a:t>Avoid reliance on biased historical outcomes </a:t>
            </a:r>
          </a:p>
          <a:p>
            <a:r>
              <a:rPr lang="en-US" sz="1800" dirty="0"/>
              <a:t>Use multi-source validation </a:t>
            </a:r>
          </a:p>
          <a:p>
            <a:pPr marL="0" indent="0">
              <a:buNone/>
            </a:pPr>
            <a:r>
              <a:rPr lang="en-US" sz="1800" b="1" dirty="0"/>
              <a:t>Transparency</a:t>
            </a:r>
            <a:endParaRPr lang="en-US" sz="1800" dirty="0"/>
          </a:p>
          <a:p>
            <a:r>
              <a:rPr lang="en-US" sz="1800" dirty="0"/>
              <a:t>Explainable reasoning traces </a:t>
            </a:r>
          </a:p>
          <a:p>
            <a:r>
              <a:rPr lang="en-US" sz="1800" dirty="0"/>
              <a:t>Clear source attribution </a:t>
            </a:r>
          </a:p>
          <a:p>
            <a:pPr marL="0" indent="0">
              <a:buNone/>
            </a:pPr>
            <a:r>
              <a:rPr lang="en-US" sz="1800" b="1" dirty="0"/>
              <a:t>Privacy &amp; Security</a:t>
            </a:r>
            <a:endParaRPr lang="en-US" sz="1800" dirty="0"/>
          </a:p>
          <a:p>
            <a:r>
              <a:rPr lang="en-US" sz="1800" dirty="0"/>
              <a:t>Uses public financial data </a:t>
            </a:r>
          </a:p>
          <a:p>
            <a:r>
              <a:rPr lang="en-US" sz="1800" dirty="0"/>
              <a:t>Secure API integrations </a:t>
            </a:r>
          </a:p>
          <a:p>
            <a:pPr marL="0" indent="0">
              <a:buNone/>
            </a:pPr>
            <a:r>
              <a:rPr lang="en-US" sz="1800" b="1" dirty="0"/>
              <a:t>Accountability</a:t>
            </a:r>
            <a:endParaRPr lang="en-US" sz="1800" dirty="0"/>
          </a:p>
          <a:p>
            <a:r>
              <a:rPr lang="en-US" sz="1800" dirty="0"/>
              <a:t>Human oversight in all final decisions</a:t>
            </a:r>
          </a:p>
        </p:txBody>
      </p:sp>
    </p:spTree>
    <p:extLst>
      <p:ext uri="{BB962C8B-B14F-4D97-AF65-F5344CB8AC3E}">
        <p14:creationId xmlns:p14="http://schemas.microsoft.com/office/powerpoint/2010/main" val="3689432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1BCF0-08EC-4218-3774-B32B06325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Video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705EC-01B4-A9E7-ED58-AE6BE868F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analyzing a company’s disclosures</a:t>
            </a:r>
          </a:p>
          <a:p>
            <a:r>
              <a:rPr lang="en-US" dirty="0"/>
              <a:t>detecting narrative shifts</a:t>
            </a:r>
          </a:p>
          <a:p>
            <a:r>
              <a:rPr lang="en-US" dirty="0"/>
              <a:t>generating structured risk insights</a:t>
            </a:r>
          </a:p>
        </p:txBody>
      </p:sp>
    </p:spTree>
    <p:extLst>
      <p:ext uri="{BB962C8B-B14F-4D97-AF65-F5344CB8AC3E}">
        <p14:creationId xmlns:p14="http://schemas.microsoft.com/office/powerpoint/2010/main" val="660282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86E85-37EA-4E31-15DF-DAFE662DB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4398F-74F1-0990-AFC5-F8705B219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Call to Action</a:t>
            </a:r>
          </a:p>
          <a:p>
            <a:r>
              <a:rPr lang="en-US" dirty="0"/>
              <a:t>Reimagine credit risk analysis with agentic AI.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Future Opportunities</a:t>
            </a:r>
            <a:endParaRPr lang="en-US" dirty="0"/>
          </a:p>
          <a:p>
            <a:r>
              <a:rPr lang="en-US" dirty="0"/>
              <a:t>Expand to real-time monitoring </a:t>
            </a:r>
          </a:p>
          <a:p>
            <a:r>
              <a:rPr lang="en-US" dirty="0"/>
              <a:t>Integrate internal banking data </a:t>
            </a:r>
          </a:p>
          <a:p>
            <a:r>
              <a:rPr lang="en-US" dirty="0"/>
              <a:t>Deploy across portfolio-level risk systems 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Final Note</a:t>
            </a:r>
          </a:p>
          <a:p>
            <a:r>
              <a:rPr lang="en-US" dirty="0"/>
              <a:t>Lumen transforms fragmented analysis into structured, explainable intelligence.</a:t>
            </a:r>
          </a:p>
        </p:txBody>
      </p:sp>
    </p:spTree>
    <p:extLst>
      <p:ext uri="{BB962C8B-B14F-4D97-AF65-F5344CB8AC3E}">
        <p14:creationId xmlns:p14="http://schemas.microsoft.com/office/powerpoint/2010/main" val="4068549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495</Words>
  <Application>Microsoft Macintosh PowerPoint</Application>
  <PresentationFormat>Widescreen</PresentationFormat>
  <Paragraphs>105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Title Slide</vt:lpstr>
      <vt:lpstr>Instructions</vt:lpstr>
      <vt:lpstr>The Problem</vt:lpstr>
      <vt:lpstr>User Target</vt:lpstr>
      <vt:lpstr>The Solution</vt:lpstr>
      <vt:lpstr>How it works</vt:lpstr>
      <vt:lpstr>Architectural Diagram</vt:lpstr>
      <vt:lpstr>AI Workflow</vt:lpstr>
      <vt:lpstr>Human in the Loop</vt:lpstr>
      <vt:lpstr>Ethics &amp; Responsible AI</vt:lpstr>
      <vt:lpstr>Demo Video</vt:lpstr>
      <vt:lpstr>Closing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Lauren Turney</dc:creator>
  <cp:lastModifiedBy>Sun Ruizi</cp:lastModifiedBy>
  <cp:revision>8</cp:revision>
  <dcterms:created xsi:type="dcterms:W3CDTF">2026-04-13T20:54:54Z</dcterms:created>
  <dcterms:modified xsi:type="dcterms:W3CDTF">2026-04-25T22:03:03Z</dcterms:modified>
</cp:coreProperties>
</file>